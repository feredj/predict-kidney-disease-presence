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Ubuntu" panose="020B0504030602030204" pitchFamily="34" charset="0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Ubuntu" panose="020B0504030602030204" pitchFamily="34" charset="0"/>
              </a:rPr>
              <a:t>Class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Classes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0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05A-4720-AB44-B0FA5B81692B}"/>
              </c:ext>
            </c:extLst>
          </c:dPt>
          <c:dPt>
            <c:idx val="1"/>
            <c:bubble3D val="0"/>
            <c:spPr>
              <a:solidFill>
                <a:srgbClr val="0D6E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05A-4720-AB44-B0FA5B81692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05A-4720-AB44-B0FA5B81692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05A-4720-AB44-B0FA5B81692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CKD (Sick)</c:v>
                </c:pt>
                <c:pt idx="1">
                  <c:v>NotCKD (Healthy)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62.5</c:v>
                </c:pt>
                <c:pt idx="1">
                  <c:v>37.5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05A-4720-AB44-B0FA5B8169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latin typeface="Ubuntu" panose="020B0504030602030204" pitchFamily="34" charset="0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5F8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95B-45E1-9E27-ECED2AEF048E}"/>
              </c:ext>
            </c:extLst>
          </c:dPt>
          <c:dPt>
            <c:idx val="1"/>
            <c:invertIfNegative val="0"/>
            <c:bubble3D val="0"/>
            <c:spPr>
              <a:solidFill>
                <a:srgbClr val="ED7D3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95B-45E1-9E27-ECED2AEF048E}"/>
              </c:ext>
            </c:extLst>
          </c:dPt>
          <c:dPt>
            <c:idx val="2"/>
            <c:invertIfNegative val="0"/>
            <c:bubble3D val="0"/>
            <c:spPr>
              <a:solidFill>
                <a:srgbClr val="375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95B-45E1-9E27-ECED2AEF048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Dataset 1
(Real)</c:v>
                </c:pt>
                <c:pt idx="1">
                  <c:v>Dataset 2
(Synthetic)</c:v>
                </c:pt>
                <c:pt idx="2">
                  <c:v>Combined
(Augmented)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400</c:v>
                </c:pt>
                <c:pt idx="1">
                  <c:v>100</c:v>
                </c:pt>
                <c:pt idx="2">
                  <c:v>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95B-45E1-9E27-ECED2AEF048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E2EFDA"/>
    </a:solidFill>
    <a:ln>
      <a:noFill/>
    </a:ln>
    <a:effectLst/>
  </c:spPr>
  <c:txPr>
    <a:bodyPr/>
    <a:lstStyle/>
    <a:p>
      <a:pPr>
        <a:defRPr>
          <a:latin typeface="Ubuntu" panose="020B0504030602030204" pitchFamily="34" charset="0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Missing %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rbc</c:v>
                </c:pt>
                <c:pt idx="1">
                  <c:v>rbcc</c:v>
                </c:pt>
                <c:pt idx="2">
                  <c:v>wbcc</c:v>
                </c:pt>
                <c:pt idx="3">
                  <c:v>pc</c:v>
                </c:pt>
                <c:pt idx="4">
                  <c:v>bgr</c:v>
                </c:pt>
                <c:pt idx="5">
                  <c:v>bu</c:v>
                </c:pt>
                <c:pt idx="6">
                  <c:v>sc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38</c:v>
                </c:pt>
                <c:pt idx="1">
                  <c:v>32.799999999999997</c:v>
                </c:pt>
                <c:pt idx="2">
                  <c:v>26.5</c:v>
                </c:pt>
                <c:pt idx="3">
                  <c:v>16.3</c:v>
                </c:pt>
                <c:pt idx="4">
                  <c:v>11</c:v>
                </c:pt>
                <c:pt idx="5">
                  <c:v>4.75</c:v>
                </c:pt>
                <c:pt idx="6">
                  <c:v>4.25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02-4344-9223-717B8C65970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8FC"/>
    </a:solidFill>
    <a:ln>
      <a:noFill/>
    </a:ln>
    <a:effectLst/>
  </c:spPr>
  <c:txPr>
    <a:bodyPr/>
    <a:lstStyle/>
    <a:p>
      <a:pPr>
        <a:defRPr>
          <a:latin typeface="Ubuntu" panose="020B0504030602030204" pitchFamily="34" charset="0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2935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A0591-B142-7650-DD25-3B7647CAB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BBC99F-FF08-8241-30BB-91B898C268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3DFF8F-0809-0C42-E2D4-E797A9FF4F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F2482-504C-FFA4-C420-80BB624FFC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209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9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32588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Binary classification: predict kidney disease presence</a:t>
            </a:r>
          </a:p>
        </p:txBody>
      </p:sp>
      <p:sp>
        <p:nvSpPr>
          <p:cNvPr id="6" name="Text 4"/>
          <p:cNvSpPr/>
          <p:nvPr/>
        </p:nvSpPr>
        <p:spPr>
          <a:xfrm>
            <a:off x="411480" y="22860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 dirty="0">
                <a:solidFill>
                  <a:srgbClr val="BDD7EE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Chronic kidney disease - UCI dataset</a:t>
            </a:r>
            <a:endParaRPr lang="en-US" sz="1800" dirty="0">
              <a:latin typeface="Ubuntu" panose="020B050403060203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1480" y="2788920"/>
            <a:ext cx="4114800" cy="36576"/>
          </a:xfrm>
          <a:prstGeom prst="rect">
            <a:avLst/>
          </a:prstGeom>
          <a:solidFill>
            <a:srgbClr val="BDD7EE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" y="4869180"/>
            <a:ext cx="8979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F7F7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Academic Year 2025/2026</a:t>
            </a:r>
            <a:endParaRPr lang="en-US" sz="1200" dirty="0">
              <a:latin typeface="Ubuntu" panose="020B0504030602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132320" y="731520"/>
            <a:ext cx="2011680" cy="2011680"/>
          </a:xfrm>
          <a:prstGeom prst="ellipse">
            <a:avLst/>
          </a:prstGeom>
          <a:solidFill>
            <a:srgbClr val="4472C4">
              <a:alpha val="2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589520" y="2286000"/>
            <a:ext cx="1371600" cy="1371600"/>
          </a:xfrm>
          <a:prstGeom prst="ellipse">
            <a:avLst/>
          </a:prstGeom>
          <a:solidFill>
            <a:srgbClr val="ED7D31">
              <a:alpha val="30000"/>
            </a:srgbClr>
          </a:solidFill>
          <a:ln/>
        </p:spPr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2EC746C1-3642-D4BB-662B-EDFC1A6806FF}"/>
              </a:ext>
            </a:extLst>
          </p:cNvPr>
          <p:cNvSpPr/>
          <p:nvPr/>
        </p:nvSpPr>
        <p:spPr>
          <a:xfrm>
            <a:off x="227664" y="-9144"/>
            <a:ext cx="8688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bg1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People's Democratic Republic of Algeria</a:t>
            </a:r>
          </a:p>
          <a:p>
            <a:pPr algn="ctr"/>
            <a:r>
              <a:rPr lang="en-US" sz="1300" b="1" dirty="0">
                <a:solidFill>
                  <a:schemeClr val="bg1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Ministry of Higher Education and Scientific Research</a:t>
            </a:r>
          </a:p>
          <a:p>
            <a:pPr algn="ctr"/>
            <a:r>
              <a:rPr lang="en-US" sz="1300" b="1" dirty="0">
                <a:solidFill>
                  <a:schemeClr val="bg1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Tahri Mohamed University of </a:t>
            </a:r>
            <a:r>
              <a:rPr lang="en-US" sz="1300" b="1" dirty="0" err="1">
                <a:solidFill>
                  <a:schemeClr val="bg1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Bechar</a:t>
            </a:r>
            <a:endParaRPr lang="en-US" sz="1300" b="1" dirty="0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9B5BC15E-20E4-F407-15DB-AB42C6440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345" y="86220"/>
            <a:ext cx="1092403" cy="1097280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EB0E4307-C241-C017-0B45-02FA66C25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" y="22860"/>
            <a:ext cx="1092403" cy="1097280"/>
          </a:xfrm>
          <a:prstGeom prst="rect">
            <a:avLst/>
          </a:prstGeom>
        </p:spPr>
      </p:pic>
      <p:sp>
        <p:nvSpPr>
          <p:cNvPr id="17" name="Text 9">
            <a:extLst>
              <a:ext uri="{FF2B5EF4-FFF2-40B4-BE49-F238E27FC236}">
                <a16:creationId xmlns:a16="http://schemas.microsoft.com/office/drawing/2014/main" id="{B3FD44E1-B0EB-C040-24F5-45051E41C25E}"/>
              </a:ext>
            </a:extLst>
          </p:cNvPr>
          <p:cNvSpPr/>
          <p:nvPr/>
        </p:nvSpPr>
        <p:spPr>
          <a:xfrm>
            <a:off x="1901184" y="773865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7F7F7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AI Techniques and Tools </a:t>
            </a:r>
            <a:r>
              <a:rPr lang="en-US" sz="1200" b="1" dirty="0">
                <a:solidFill>
                  <a:schemeClr val="bg1">
                    <a:lumMod val="50000"/>
                  </a:schemeClr>
                </a:solidFill>
                <a:latin typeface="Ubuntu" panose="020B0504030602030204" pitchFamily="34" charset="0"/>
                <a:ea typeface="Georgia" pitchFamily="34" charset="-122"/>
                <a:cs typeface="Georgia" pitchFamily="34" charset="-120"/>
              </a:rPr>
              <a:t>- Mini Project</a:t>
            </a:r>
            <a:endParaRPr lang="en-US" sz="1200" b="1" dirty="0">
              <a:solidFill>
                <a:schemeClr val="bg1">
                  <a:lumMod val="50000"/>
                </a:schemeClr>
              </a:solidFill>
              <a:latin typeface="Ubuntu" panose="020B0504030602030204" pitchFamily="34" charset="0"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90568974-8024-313C-4432-9A713B4C8B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288" y="2987934"/>
            <a:ext cx="623610" cy="936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9" name="Text 15">
            <a:extLst>
              <a:ext uri="{FF2B5EF4-FFF2-40B4-BE49-F238E27FC236}">
                <a16:creationId xmlns:a16="http://schemas.microsoft.com/office/drawing/2014/main" id="{CE4310BC-2F79-5443-6A47-7637326A57C6}"/>
              </a:ext>
            </a:extLst>
          </p:cNvPr>
          <p:cNvSpPr/>
          <p:nvPr/>
        </p:nvSpPr>
        <p:spPr>
          <a:xfrm>
            <a:off x="164592" y="3923934"/>
            <a:ext cx="96169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100" b="1" dirty="0" err="1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F.Younes</a:t>
            </a:r>
            <a:br>
              <a:rPr lang="fr-FR" sz="11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i="1" dirty="0">
                <a:solidFill>
                  <a:srgbClr val="BDD7EE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Informatique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B6CE1371-05AC-5E84-F343-995C3F7EE4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804" y="2961249"/>
            <a:ext cx="698529" cy="936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1" name="Text 15">
            <a:extLst>
              <a:ext uri="{FF2B5EF4-FFF2-40B4-BE49-F238E27FC236}">
                <a16:creationId xmlns:a16="http://schemas.microsoft.com/office/drawing/2014/main" id="{157C020C-2E63-9DFE-76C2-D1998C504650}"/>
              </a:ext>
            </a:extLst>
          </p:cNvPr>
          <p:cNvSpPr/>
          <p:nvPr/>
        </p:nvSpPr>
        <p:spPr>
          <a:xfrm>
            <a:off x="3978781" y="3926184"/>
            <a:ext cx="129968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1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fr-FR" sz="1100" b="1" dirty="0" err="1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G.Fatma</a:t>
            </a:r>
            <a:r>
              <a:rPr lang="fr-FR" sz="11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 Zahra</a:t>
            </a:r>
            <a:br>
              <a:rPr lang="fr-FR" sz="11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i="1" dirty="0">
                <a:solidFill>
                  <a:srgbClr val="BDD7EE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Etudes </a:t>
            </a:r>
            <a:r>
              <a:rPr lang="en-US" sz="1100" i="1" dirty="0" err="1">
                <a:solidFill>
                  <a:srgbClr val="BDD7EE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linguistiques</a:t>
            </a:r>
            <a:endParaRPr lang="en-US" sz="1100" i="1" dirty="0">
              <a:solidFill>
                <a:srgbClr val="BDD7EE"/>
              </a:solidFill>
              <a:latin typeface="Ubuntu" panose="020B0504030602030204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6B465737-7C8E-C458-4956-9ECD95A15B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9472" y="2990184"/>
            <a:ext cx="635733" cy="936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3" name="Text 15">
            <a:extLst>
              <a:ext uri="{FF2B5EF4-FFF2-40B4-BE49-F238E27FC236}">
                <a16:creationId xmlns:a16="http://schemas.microsoft.com/office/drawing/2014/main" id="{EDA857B9-4E08-B740-E828-5CA4028BCC96}"/>
              </a:ext>
            </a:extLst>
          </p:cNvPr>
          <p:cNvSpPr/>
          <p:nvPr/>
        </p:nvSpPr>
        <p:spPr>
          <a:xfrm>
            <a:off x="1307498" y="3923934"/>
            <a:ext cx="129968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100" b="1" dirty="0" err="1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A.Abderrahmen</a:t>
            </a:r>
            <a:br>
              <a:rPr lang="fr-FR" sz="12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i="1" dirty="0">
                <a:solidFill>
                  <a:srgbClr val="BDD7EE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Etudes </a:t>
            </a:r>
            <a:r>
              <a:rPr lang="en-US" sz="1100" i="1" dirty="0" err="1">
                <a:solidFill>
                  <a:srgbClr val="BDD7EE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linguistiques</a:t>
            </a:r>
            <a:endParaRPr lang="en-US" sz="1100" i="1" dirty="0">
              <a:solidFill>
                <a:srgbClr val="BDD7EE"/>
              </a:solidFill>
              <a:latin typeface="Ubuntu" panose="020B0504030602030204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7181996B-0CE1-D98B-3C14-4435910B249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610" t="5414" r="4248"/>
          <a:stretch>
            <a:fillRect/>
          </a:stretch>
        </p:blipFill>
        <p:spPr>
          <a:xfrm>
            <a:off x="5561367" y="2987934"/>
            <a:ext cx="758071" cy="936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5" name="Text 15">
            <a:extLst>
              <a:ext uri="{FF2B5EF4-FFF2-40B4-BE49-F238E27FC236}">
                <a16:creationId xmlns:a16="http://schemas.microsoft.com/office/drawing/2014/main" id="{9FA0F2A4-B5BE-A2B8-F15D-FEDA5AC0E8D4}"/>
              </a:ext>
            </a:extLst>
          </p:cNvPr>
          <p:cNvSpPr/>
          <p:nvPr/>
        </p:nvSpPr>
        <p:spPr>
          <a:xfrm>
            <a:off x="5287031" y="3929274"/>
            <a:ext cx="129968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100" b="1" dirty="0" err="1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D.Aicha</a:t>
            </a:r>
            <a:br>
              <a:rPr lang="fr-FR" sz="11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i="1" dirty="0">
                <a:solidFill>
                  <a:srgbClr val="BDD7EE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Etudes </a:t>
            </a:r>
            <a:r>
              <a:rPr lang="en-US" sz="1100" i="1" dirty="0" err="1">
                <a:solidFill>
                  <a:srgbClr val="BDD7EE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linguistiques</a:t>
            </a:r>
            <a:endParaRPr lang="en-US" sz="1100" i="1" dirty="0">
              <a:solidFill>
                <a:srgbClr val="BDD7EE"/>
              </a:solidFill>
              <a:latin typeface="Ubuntu" panose="020B0504030602030204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E3AB2F63-DA1D-B77E-60C8-7D7651764DC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6196" y="2987934"/>
            <a:ext cx="734071" cy="936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7" name="Text 15">
            <a:extLst>
              <a:ext uri="{FF2B5EF4-FFF2-40B4-BE49-F238E27FC236}">
                <a16:creationId xmlns:a16="http://schemas.microsoft.com/office/drawing/2014/main" id="{6F799670-E66D-CCB4-C072-C09F6D10A277}"/>
              </a:ext>
            </a:extLst>
          </p:cNvPr>
          <p:cNvSpPr/>
          <p:nvPr/>
        </p:nvSpPr>
        <p:spPr>
          <a:xfrm>
            <a:off x="2663391" y="3926184"/>
            <a:ext cx="129968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1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F. Mohammed</a:t>
            </a:r>
            <a:br>
              <a:rPr lang="fr-FR" sz="12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i="1" dirty="0">
                <a:solidFill>
                  <a:srgbClr val="BDD7EE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Etudes </a:t>
            </a:r>
            <a:r>
              <a:rPr lang="en-US" sz="1100" i="1" dirty="0" err="1">
                <a:solidFill>
                  <a:srgbClr val="BDD7EE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linguistiques</a:t>
            </a:r>
            <a:endParaRPr lang="en-US" sz="1100" i="1" dirty="0">
              <a:solidFill>
                <a:srgbClr val="BDD7EE"/>
              </a:solidFill>
              <a:latin typeface="Ubuntu" panose="020B0504030602030204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1EB3E86C-F5A1-7AE0-E097-9FD0FDF0E35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0262" y="3023844"/>
            <a:ext cx="624000" cy="936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9" name="Text 15">
            <a:extLst>
              <a:ext uri="{FF2B5EF4-FFF2-40B4-BE49-F238E27FC236}">
                <a16:creationId xmlns:a16="http://schemas.microsoft.com/office/drawing/2014/main" id="{9A21F332-1C00-56AC-E16F-9277E40890D6}"/>
              </a:ext>
            </a:extLst>
          </p:cNvPr>
          <p:cNvSpPr/>
          <p:nvPr/>
        </p:nvSpPr>
        <p:spPr>
          <a:xfrm>
            <a:off x="6602421" y="3967029"/>
            <a:ext cx="129968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100" b="1" dirty="0" err="1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M.Faiza</a:t>
            </a:r>
            <a:br>
              <a:rPr lang="fr-FR" sz="11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100" i="1" dirty="0">
                <a:solidFill>
                  <a:srgbClr val="BDD7EE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Langue anglaise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02920" cy="5029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9418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Introduction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502920" cy="50292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71907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Search &amp; Description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468880"/>
            <a:ext cx="502920" cy="502920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24963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+ Data Augmentation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3246120"/>
            <a:ext cx="502920" cy="5029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32735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4023360"/>
            <a:ext cx="502920" cy="50292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40507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(PCA, LDA)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914400"/>
            <a:ext cx="502920" cy="502920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9240" y="9418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Splitting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0" y="1691640"/>
            <a:ext cx="502920" cy="5029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49240" y="171907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Selection &amp; Training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2468880"/>
            <a:ext cx="502920" cy="50292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49240" y="24963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Results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754880" y="3246120"/>
            <a:ext cx="502920" cy="5029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49240" y="32735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01  |  Problem Introduction</a:t>
            </a:r>
            <a:endParaRPr lang="en-US" sz="2400" dirty="0">
              <a:latin typeface="Ubuntu" panose="020B0504030602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560320" cy="1828800"/>
          </a:xfrm>
          <a:prstGeom prst="rect">
            <a:avLst/>
          </a:prstGeom>
          <a:solidFill>
            <a:srgbClr val="1F497D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430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ED7D31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5200" dirty="0">
              <a:latin typeface="Ubuntu" panose="020B0504030602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DD7EE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of world population</a:t>
            </a:r>
            <a:endParaRPr lang="en-US" sz="1200" dirty="0">
              <a:latin typeface="Ubuntu" panose="020B050403060203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BDD7EE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affected by CKD</a:t>
            </a:r>
            <a:endParaRPr lang="en-US" sz="1200" dirty="0">
              <a:latin typeface="Ubuntu" panose="020B0504030602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108960" y="91440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497D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What is Chronic Kidney Disease?</a:t>
            </a:r>
            <a:endParaRPr lang="en-US" sz="1800" dirty="0">
              <a:latin typeface="Ubuntu" panose="020B0504030602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108960" y="1417320"/>
            <a:ext cx="5760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Progressive and irreversible decline in kidney function</a:t>
            </a:r>
            <a:endParaRPr lang="en-US" sz="1400" dirty="0">
              <a:latin typeface="Ubuntu" panose="020B050403060203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Sustained over more than 3 months</a:t>
            </a:r>
            <a:endParaRPr lang="en-US" sz="1400" dirty="0">
              <a:latin typeface="Ubuntu" panose="020B050403060203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Often asymptomatic in early stages - hard to detect</a:t>
            </a:r>
            <a:endParaRPr lang="en-US" sz="1400" dirty="0">
              <a:latin typeface="Ubuntu" panose="020B050403060203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Can progress to End-Stage Renal Disease (ESRD)</a:t>
            </a:r>
            <a:endParaRPr lang="en-US" sz="1400" dirty="0">
              <a:latin typeface="Ubuntu" panose="020B050403060203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2926080"/>
            <a:ext cx="8595360" cy="1188720"/>
          </a:xfrm>
          <a:prstGeom prst="rect">
            <a:avLst/>
          </a:prstGeom>
          <a:solidFill>
            <a:srgbClr val="BDD7EE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926080"/>
            <a:ext cx="109728" cy="118872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9992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97D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>
              <a:latin typeface="Ubuntu" panose="020B050403060203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8640" y="329184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04040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Given 24 medical measurements per patient (creatinine, hemoglobin, blood pressure...),</a:t>
            </a:r>
            <a:endParaRPr lang="en-US" sz="1300" dirty="0">
              <a:latin typeface="Ubuntu" panose="020B0504030602030204" pitchFamily="34" charset="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404040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predict whether the patient has CKD (1) or is healthy (0)  →  Binary Classification Task</a:t>
            </a:r>
            <a:endParaRPr lang="en-US" sz="1300" dirty="0">
              <a:latin typeface="Ubuntu" panose="020B050403060203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74320" y="4251960"/>
            <a:ext cx="1920240" cy="685800"/>
          </a:xfrm>
          <a:prstGeom prst="rect">
            <a:avLst/>
          </a:prstGeom>
          <a:solidFill>
            <a:srgbClr val="C0000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" y="42519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CKD</a:t>
            </a:r>
            <a:endParaRPr lang="en-US" sz="1200" dirty="0">
              <a:latin typeface="Ubuntu" panose="020B0504030602030204" pitchFamily="34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250 sick</a:t>
            </a:r>
            <a:endParaRPr lang="en-US" sz="1200" dirty="0">
              <a:latin typeface="Ubuntu" panose="020B0504030602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468880" y="4251960"/>
            <a:ext cx="1920240" cy="685800"/>
          </a:xfrm>
          <a:prstGeom prst="rect">
            <a:avLst/>
          </a:prstGeom>
          <a:solidFill>
            <a:srgbClr val="0D6E8A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468880" y="42519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NotCKD</a:t>
            </a:r>
            <a:endParaRPr lang="en-US" sz="1200" dirty="0">
              <a:latin typeface="Ubuntu" panose="020B0504030602030204" pitchFamily="34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150 healthy</a:t>
            </a:r>
            <a:endParaRPr lang="en-US" sz="1200" dirty="0">
              <a:latin typeface="Ubuntu" panose="020B0504030602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02  |  Dataset Search &amp; Description</a:t>
            </a:r>
            <a:endParaRPr lang="en-US" sz="2400" dirty="0">
              <a:latin typeface="Ubuntu" panose="020B0504030602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20240" cy="1280160"/>
          </a:xfrm>
          <a:prstGeom prst="rect">
            <a:avLst/>
          </a:prstGeom>
          <a:solidFill>
            <a:srgbClr val="1F497D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3600" dirty="0">
              <a:latin typeface="Ubuntu" panose="020B0504030602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7432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300" dirty="0">
              <a:latin typeface="Ubuntu" panose="020B050403060203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423160" y="914400"/>
            <a:ext cx="1920240" cy="1280160"/>
          </a:xfrm>
          <a:prstGeom prst="rect">
            <a:avLst/>
          </a:prstGeom>
          <a:solidFill>
            <a:srgbClr val="4472C4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0058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3600" dirty="0">
              <a:latin typeface="Ubuntu" panose="020B0504030602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42316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>
              <a:latin typeface="Ubuntu" panose="020B050403060203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0" y="914400"/>
            <a:ext cx="1920240" cy="1280160"/>
          </a:xfrm>
          <a:prstGeom prst="rect">
            <a:avLst/>
          </a:prstGeom>
          <a:solidFill>
            <a:srgbClr val="0D6E8A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0058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>
              <a:latin typeface="Ubuntu" panose="020B050403060203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300" dirty="0">
              <a:latin typeface="Ubuntu" panose="020B050403060203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720840" y="914400"/>
            <a:ext cx="1920240" cy="1280160"/>
          </a:xfrm>
          <a:prstGeom prst="rect">
            <a:avLst/>
          </a:prstGeom>
          <a:solidFill>
            <a:srgbClr val="ED7D31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10058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UCI</a:t>
            </a:r>
            <a:endParaRPr lang="en-US" sz="3600" dirty="0">
              <a:latin typeface="Ubuntu" panose="020B0504030602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72084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300" dirty="0">
              <a:latin typeface="Ubuntu" panose="020B0504030602030204" pitchFamily="34" charset="0"/>
            </a:endParaRPr>
          </a:p>
        </p:txBody>
      </p:sp>
      <p:graphicFrame>
        <p:nvGraphicFramePr>
          <p:cNvPr id="16" name="Chart 0"/>
          <p:cNvGraphicFramePr/>
          <p:nvPr>
            <p:extLst>
              <p:ext uri="{D42A27DB-BD31-4B8C-83A1-F6EECF244321}">
                <p14:modId xmlns:p14="http://schemas.microsoft.com/office/powerpoint/2010/main" val="3107851613"/>
              </p:ext>
            </p:extLst>
          </p:nvPr>
        </p:nvGraphicFramePr>
        <p:xfrm>
          <a:off x="274320" y="2331720"/>
          <a:ext cx="347472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/>
          <p:nvPr/>
        </p:nvSpPr>
        <p:spPr>
          <a:xfrm>
            <a:off x="3931920" y="2286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97D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Top Predictive Features</a:t>
            </a:r>
            <a:endParaRPr lang="en-US" sz="1500" dirty="0">
              <a:latin typeface="Ubuntu" panose="020B0504030602030204" pitchFamily="34" charset="0"/>
            </a:endParaRPr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475591"/>
              </p:ext>
            </p:extLst>
          </p:nvPr>
        </p:nvGraphicFramePr>
        <p:xfrm>
          <a:off x="3931920" y="2697480"/>
          <a:ext cx="4937760" cy="219456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Ubuntu" panose="020B0504030602030204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Ubuntu" panose="020B050403060203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Ubuntu" panose="020B0504030602030204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Ubuntu" panose="020B050403060203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Ubuntu" panose="020B0504030602030204" pitchFamily="34" charset="0"/>
                          <a:ea typeface="Calibri" pitchFamily="34" charset="-122"/>
                          <a:cs typeface="Calibri" pitchFamily="34" charset="-120"/>
                        </a:rPr>
                        <a:t>Importance</a:t>
                      </a:r>
                      <a:endParaRPr lang="en-US" sz="1200" dirty="0">
                        <a:latin typeface="Ubuntu" panose="020B050403060203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Ubuntu" panose="020B0504030602030204" pitchFamily="34" charset="0"/>
                          <a:ea typeface="Calibri" pitchFamily="34" charset="-122"/>
                          <a:cs typeface="Calibri" pitchFamily="34" charset="-120"/>
                        </a:rPr>
                        <a:t>sc</a:t>
                      </a:r>
                      <a:endParaRPr lang="en-US" sz="1200" dirty="0">
                        <a:latin typeface="Ubuntu" panose="020B050403060203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Ubuntu" panose="020B0504030602030204" pitchFamily="34" charset="0"/>
                          <a:ea typeface="Calibri" pitchFamily="34" charset="-122"/>
                          <a:cs typeface="Calibri" pitchFamily="34" charset="-120"/>
                        </a:rPr>
                        <a:t>Serum Creatinine</a:t>
                      </a:r>
                      <a:endParaRPr lang="en-US" sz="1200" dirty="0">
                        <a:latin typeface="Ubuntu" panose="020B050403060203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Ubuntu" panose="020B0504030602030204" pitchFamily="34" charset="0"/>
                          <a:ea typeface="Calibri" pitchFamily="34" charset="-122"/>
                          <a:cs typeface="Calibri" pitchFamily="34" charset="-120"/>
                        </a:rPr>
                        <a:t>~28%</a:t>
                      </a:r>
                      <a:endParaRPr lang="en-US" sz="1200" dirty="0">
                        <a:latin typeface="Ubuntu" panose="020B050403060203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Ubuntu" panose="020B0504030602030204" pitchFamily="34" charset="0"/>
                          <a:ea typeface="Calibri" pitchFamily="34" charset="-122"/>
                          <a:cs typeface="Calibri" pitchFamily="34" charset="-120"/>
                        </a:rPr>
                        <a:t>pcv</a:t>
                      </a:r>
                      <a:endParaRPr lang="en-US" sz="1200" dirty="0">
                        <a:latin typeface="Ubuntu" panose="020B050403060203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Ubuntu" panose="020B0504030602030204" pitchFamily="34" charset="0"/>
                          <a:ea typeface="Calibri" pitchFamily="34" charset="-122"/>
                          <a:cs typeface="Calibri" pitchFamily="34" charset="-120"/>
                        </a:rPr>
                        <a:t>Packed Cell Volume</a:t>
                      </a:r>
                      <a:endParaRPr lang="en-US" sz="1200" dirty="0">
                        <a:latin typeface="Ubuntu" panose="020B050403060203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Ubuntu" panose="020B0504030602030204" pitchFamily="34" charset="0"/>
                          <a:ea typeface="Calibri" pitchFamily="34" charset="-122"/>
                          <a:cs typeface="Calibri" pitchFamily="34" charset="-120"/>
                        </a:rPr>
                        <a:t>~22%</a:t>
                      </a:r>
                      <a:endParaRPr lang="en-US" sz="1200" dirty="0">
                        <a:latin typeface="Ubuntu" panose="020B050403060203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Ubuntu" panose="020B0504030602030204" pitchFamily="34" charset="0"/>
                          <a:ea typeface="Calibri" pitchFamily="34" charset="-122"/>
                          <a:cs typeface="Calibri" pitchFamily="34" charset="-120"/>
                        </a:rPr>
                        <a:t>hemo</a:t>
                      </a:r>
                      <a:endParaRPr lang="en-US" sz="1200" dirty="0">
                        <a:latin typeface="Ubuntu" panose="020B050403060203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Ubuntu" panose="020B0504030602030204" pitchFamily="34" charset="0"/>
                          <a:ea typeface="Calibri" pitchFamily="34" charset="-122"/>
                          <a:cs typeface="Calibri" pitchFamily="34" charset="-120"/>
                        </a:rPr>
                        <a:t>Hemoglobin</a:t>
                      </a:r>
                      <a:endParaRPr lang="en-US" sz="1200" dirty="0">
                        <a:latin typeface="Ubuntu" panose="020B050403060203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Ubuntu" panose="020B0504030602030204" pitchFamily="34" charset="0"/>
                          <a:ea typeface="Calibri" pitchFamily="34" charset="-122"/>
                          <a:cs typeface="Calibri" pitchFamily="34" charset="-120"/>
                        </a:rPr>
                        <a:t>~18%</a:t>
                      </a:r>
                      <a:endParaRPr lang="en-US" sz="1200" dirty="0">
                        <a:latin typeface="Ubuntu" panose="020B050403060203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Ubuntu" panose="020B0504030602030204" pitchFamily="34" charset="0"/>
                          <a:ea typeface="Calibri" pitchFamily="34" charset="-122"/>
                          <a:cs typeface="Calibri" pitchFamily="34" charset="-120"/>
                        </a:rPr>
                        <a:t>sg</a:t>
                      </a:r>
                      <a:endParaRPr lang="en-US" sz="1200" dirty="0">
                        <a:latin typeface="Ubuntu" panose="020B050403060203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Ubuntu" panose="020B0504030602030204" pitchFamily="34" charset="0"/>
                          <a:ea typeface="Calibri" pitchFamily="34" charset="-122"/>
                          <a:cs typeface="Calibri" pitchFamily="34" charset="-120"/>
                        </a:rPr>
                        <a:t>Specific Gravity</a:t>
                      </a:r>
                      <a:endParaRPr lang="en-US" sz="1200" dirty="0">
                        <a:latin typeface="Ubuntu" panose="020B050403060203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Ubuntu" panose="020B0504030602030204" pitchFamily="34" charset="0"/>
                          <a:ea typeface="Calibri" pitchFamily="34" charset="-122"/>
                          <a:cs typeface="Calibri" pitchFamily="34" charset="-120"/>
                        </a:rPr>
                        <a:t>~8%</a:t>
                      </a:r>
                      <a:endParaRPr lang="en-US" sz="1200" dirty="0">
                        <a:latin typeface="Ubuntu" panose="020B050403060203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Ubuntu" panose="020B0504030602030204" pitchFamily="34" charset="0"/>
                          <a:ea typeface="Calibri" pitchFamily="34" charset="-122"/>
                          <a:cs typeface="Calibri" pitchFamily="34" charset="-120"/>
                        </a:rPr>
                        <a:t>rbcc</a:t>
                      </a:r>
                      <a:endParaRPr lang="en-US" sz="1200" dirty="0">
                        <a:latin typeface="Ubuntu" panose="020B050403060203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Ubuntu" panose="020B0504030602030204" pitchFamily="34" charset="0"/>
                          <a:ea typeface="Calibri" pitchFamily="34" charset="-122"/>
                          <a:cs typeface="Calibri" pitchFamily="34" charset="-120"/>
                        </a:rPr>
                        <a:t>Red Blood Cell Count</a:t>
                      </a:r>
                      <a:endParaRPr lang="en-US" sz="1200" dirty="0">
                        <a:latin typeface="Ubuntu" panose="020B050403060203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Ubuntu" panose="020B0504030602030204" pitchFamily="34" charset="0"/>
                          <a:ea typeface="Calibri" pitchFamily="34" charset="-122"/>
                          <a:cs typeface="Calibri" pitchFamily="34" charset="-120"/>
                        </a:rPr>
                        <a:t>~6%</a:t>
                      </a:r>
                      <a:endParaRPr lang="en-US" sz="1200" dirty="0">
                        <a:latin typeface="Ubuntu" panose="020B0504030602030204" pitchFamily="34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03  |  Generative AI + Data Augmentation</a:t>
            </a:r>
            <a:endParaRPr lang="en-US" sz="2400" dirty="0">
              <a:latin typeface="Ubuntu" panose="020B0504030602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474720"/>
          </a:xfrm>
          <a:prstGeom prst="rect">
            <a:avLst/>
          </a:prstGeom>
          <a:solidFill>
            <a:srgbClr val="DEEAF1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023360" cy="41148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Generative AI : Dataset 2</a:t>
            </a:r>
            <a:endParaRPr lang="en-US" sz="1400" dirty="0">
              <a:latin typeface="Ubuntu" panose="020B0504030602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100 synthetic patients generated</a:t>
            </a:r>
            <a:endParaRPr lang="en-US" sz="1300" dirty="0">
              <a:latin typeface="Ubuntu" panose="020B050403060203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Based on real medical thresholds</a:t>
            </a:r>
            <a:endParaRPr lang="en-US" sz="1300" dirty="0">
              <a:latin typeface="Ubuntu" panose="020B050403060203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sc &gt; 5 mg/dL  →  CKD</a:t>
            </a:r>
            <a:endParaRPr lang="en-US" sz="1300" dirty="0">
              <a:latin typeface="Ubuntu" panose="020B050403060203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hemo &lt; 8 g/dL  →  CKD</a:t>
            </a:r>
            <a:endParaRPr lang="en-US" sz="1300" dirty="0">
              <a:latin typeface="Ubuntu" panose="020B0504030602030204" pitchFamily="34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Fully privacy-compliant — no real data used</a:t>
            </a:r>
            <a:endParaRPr lang="en-US" sz="1300" dirty="0">
              <a:latin typeface="Ubuntu" panose="020B050403060203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370832" y="2468880"/>
            <a:ext cx="402336" cy="164592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9" name="Shape 7"/>
          <p:cNvSpPr/>
          <p:nvPr/>
        </p:nvSpPr>
        <p:spPr>
          <a:xfrm>
            <a:off x="4846320" y="914400"/>
            <a:ext cx="4023360" cy="3474720"/>
          </a:xfrm>
          <a:prstGeom prst="rect">
            <a:avLst/>
          </a:prstGeom>
          <a:solidFill>
            <a:srgbClr val="E2EFDA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914400"/>
            <a:ext cx="4023360" cy="411480"/>
          </a:xfrm>
          <a:prstGeom prst="rect">
            <a:avLst/>
          </a:prstGeom>
          <a:solidFill>
            <a:srgbClr val="375623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914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Data Augmentation Result</a:t>
            </a:r>
            <a:endParaRPr lang="en-US" sz="1400" dirty="0">
              <a:latin typeface="Ubuntu" panose="020B0504030602030204" pitchFamily="34" charset="0"/>
            </a:endParaRPr>
          </a:p>
        </p:txBody>
      </p:sp>
      <p:graphicFrame>
        <p:nvGraphicFramePr>
          <p:cNvPr id="12" name="Chart 0"/>
          <p:cNvGraphicFramePr/>
          <p:nvPr>
            <p:extLst>
              <p:ext uri="{D42A27DB-BD31-4B8C-83A1-F6EECF244321}">
                <p14:modId xmlns:p14="http://schemas.microsoft.com/office/powerpoint/2010/main" val="1021513659"/>
              </p:ext>
            </p:extLst>
          </p:nvPr>
        </p:nvGraphicFramePr>
        <p:xfrm>
          <a:off x="4846320" y="1371600"/>
          <a:ext cx="402336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04  |  Data Preparation</a:t>
            </a:r>
            <a:endParaRPr lang="en-US" sz="2400" dirty="0">
              <a:latin typeface="Ubuntu" panose="020B0504030602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1965960" cy="5029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400" dirty="0">
              <a:latin typeface="Ubuntu" panose="020B0504030602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97D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Strip Whitespace</a:t>
            </a:r>
            <a:endParaRPr lang="en-US" sz="1300" dirty="0">
              <a:latin typeface="Ubuntu" panose="020B0504030602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205740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04040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Remove extra spaces:</a:t>
            </a:r>
            <a:endParaRPr lang="en-US" sz="1200" dirty="0">
              <a:latin typeface="Ubuntu" panose="020B050403060203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404040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"ckd " → "ckd"</a:t>
            </a:r>
            <a:endParaRPr lang="en-US" sz="1200" dirty="0">
              <a:latin typeface="Ubuntu" panose="020B050403060203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450592" y="96012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960120"/>
            <a:ext cx="1965960" cy="50292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1" name="Text 9"/>
          <p:cNvSpPr/>
          <p:nvPr/>
        </p:nvSpPr>
        <p:spPr>
          <a:xfrm>
            <a:off x="2450592" y="9601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400" dirty="0">
              <a:latin typeface="Ubuntu" panose="020B050403060203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542032" y="1554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472C4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300" dirty="0">
              <a:latin typeface="Ubuntu" panose="020B0504030602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542032" y="205740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04040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Delete repeated patient records</a:t>
            </a:r>
            <a:endParaRPr lang="en-US" sz="1200" dirty="0">
              <a:latin typeface="Ubuntu" panose="020B050403060203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26864" y="96012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960120"/>
            <a:ext cx="1965960" cy="502920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16" name="Text 14"/>
          <p:cNvSpPr/>
          <p:nvPr/>
        </p:nvSpPr>
        <p:spPr>
          <a:xfrm>
            <a:off x="4626864" y="9601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400" dirty="0">
              <a:latin typeface="Ubuntu" panose="020B0504030602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718304" y="1554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6E8A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Impute Missing Values</a:t>
            </a:r>
            <a:endParaRPr lang="en-US" sz="1300" dirty="0">
              <a:latin typeface="Ubuntu" panose="020B0504030602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718304" y="205740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04040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Numeric → Median</a:t>
            </a:r>
            <a:endParaRPr lang="en-US" sz="1200" dirty="0">
              <a:latin typeface="Ubuntu" panose="020B050403060203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404040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Categorical → Mode</a:t>
            </a:r>
            <a:endParaRPr lang="en-US" sz="1200" dirty="0">
              <a:latin typeface="Ubuntu" panose="020B050403060203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803136" y="96012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03136" y="960120"/>
            <a:ext cx="1965960" cy="502920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21" name="Text 19"/>
          <p:cNvSpPr/>
          <p:nvPr/>
        </p:nvSpPr>
        <p:spPr>
          <a:xfrm>
            <a:off x="6803136" y="9601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400" dirty="0">
              <a:latin typeface="Ubuntu" panose="020B050403060203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894576" y="1554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D7D31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Label Encoding</a:t>
            </a:r>
            <a:endParaRPr lang="en-US" sz="1300" dirty="0">
              <a:latin typeface="Ubuntu" panose="020B050403060203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894576" y="2057400"/>
            <a:ext cx="1783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04040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Convert text to numbers:</a:t>
            </a:r>
            <a:endParaRPr lang="en-US" sz="1200" dirty="0">
              <a:latin typeface="Ubuntu" panose="020B050403060203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404040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"yes"→1, "no"→0</a:t>
            </a:r>
            <a:endParaRPr lang="en-US" sz="1200" dirty="0">
              <a:latin typeface="Ubuntu" panose="020B050403060203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74320" y="36576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97D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Missing Values per Feature</a:t>
            </a:r>
            <a:endParaRPr lang="en-US" sz="1400" dirty="0">
              <a:latin typeface="Ubuntu" panose="020B0504030602030204" pitchFamily="34" charset="0"/>
            </a:endParaRPr>
          </a:p>
        </p:txBody>
      </p:sp>
      <p:graphicFrame>
        <p:nvGraphicFramePr>
          <p:cNvPr id="25" name="Chart 0"/>
          <p:cNvGraphicFramePr/>
          <p:nvPr>
            <p:extLst>
              <p:ext uri="{D42A27DB-BD31-4B8C-83A1-F6EECF244321}">
                <p14:modId xmlns:p14="http://schemas.microsoft.com/office/powerpoint/2010/main" val="3563712283"/>
              </p:ext>
            </p:extLst>
          </p:nvPr>
        </p:nvGraphicFramePr>
        <p:xfrm>
          <a:off x="274320" y="4005072"/>
          <a:ext cx="8595360" cy="822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Shape 23"/>
          <p:cNvSpPr/>
          <p:nvPr/>
        </p:nvSpPr>
        <p:spPr>
          <a:xfrm>
            <a:off x="274320" y="4846320"/>
            <a:ext cx="8595360" cy="210312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7" name="Text 24"/>
          <p:cNvSpPr/>
          <p:nvPr/>
        </p:nvSpPr>
        <p:spPr>
          <a:xfrm>
            <a:off x="274320" y="4846320"/>
            <a:ext cx="8595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Result: 500 patients × 25 columns  |  Missing values: 0  |  All features numeric  ✓</a:t>
            </a:r>
            <a:endParaRPr lang="en-US" sz="1100" dirty="0">
              <a:latin typeface="Ubuntu" panose="020B0504030602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05  |  Feature Engineering</a:t>
            </a:r>
            <a:endParaRPr lang="en-US" sz="2400" dirty="0">
              <a:latin typeface="Ubuntu" panose="020B0504030602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594360"/>
          </a:xfrm>
          <a:prstGeom prst="rect">
            <a:avLst/>
          </a:prstGeom>
          <a:solidFill>
            <a:srgbClr val="DEEAF1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109728" cy="59436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497D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StandardScaler  →  Normalize all features: mean=0, std=1  |  Ensures equal weight for every variable</a:t>
            </a:r>
            <a:endParaRPr lang="en-US" sz="1300" dirty="0">
              <a:latin typeface="Ubuntu" panose="020B050403060203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2697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691640"/>
            <a:ext cx="2697480" cy="54864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6916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2200" dirty="0">
              <a:latin typeface="Ubuntu" panose="020B050403060203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497D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Principal Component Analysis</a:t>
            </a:r>
            <a:endParaRPr lang="en-US" sz="1100" dirty="0">
              <a:latin typeface="Ubuntu" panose="020B050403060203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31520" y="2743200"/>
            <a:ext cx="1783080" cy="32004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7432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100" dirty="0">
              <a:latin typeface="Ubuntu" panose="020B0504030602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65760" y="31546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97D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24 → 20 components</a:t>
            </a:r>
            <a:endParaRPr lang="en-US" sz="1200" dirty="0">
              <a:latin typeface="Ubuntu" panose="020B0504030602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5760" y="361188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04040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Finds max variance directions.</a:t>
            </a:r>
            <a:endParaRPr lang="en-US" sz="1200" dirty="0">
              <a:latin typeface="Ubuntu" panose="020B050403060203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404040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Preserves 95% of information.</a:t>
            </a:r>
            <a:endParaRPr lang="en-US" sz="1200" dirty="0">
              <a:latin typeface="Ubuntu" panose="020B0504030602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182112" y="1691640"/>
            <a:ext cx="2697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82112" y="1691640"/>
            <a:ext cx="2697480" cy="548640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17" name="Text 15"/>
          <p:cNvSpPr/>
          <p:nvPr/>
        </p:nvSpPr>
        <p:spPr>
          <a:xfrm>
            <a:off x="3182112" y="16916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LDA</a:t>
            </a:r>
            <a:endParaRPr lang="en-US" sz="2200" dirty="0">
              <a:latin typeface="Ubuntu" panose="020B0504030602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273552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6E8A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Linear Discriminant Analysis</a:t>
            </a:r>
            <a:endParaRPr lang="en-US" sz="1100" dirty="0">
              <a:latin typeface="Ubuntu" panose="020B050403060203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639312" y="2743200"/>
            <a:ext cx="1783080" cy="320040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20" name="Text 18"/>
          <p:cNvSpPr/>
          <p:nvPr/>
        </p:nvSpPr>
        <p:spPr>
          <a:xfrm>
            <a:off x="3639312" y="27432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100" dirty="0">
              <a:latin typeface="Ubuntu" panose="020B050403060203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273552" y="31546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97D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24 → 1 component</a:t>
            </a:r>
            <a:endParaRPr lang="en-US" sz="1200" dirty="0">
              <a:latin typeface="Ubuntu" panose="020B050403060203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273552" y="361188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04040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Maximizes class separation.</a:t>
            </a:r>
            <a:endParaRPr lang="en-US" sz="1200" dirty="0">
              <a:latin typeface="Ubuntu" panose="020B050403060203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404040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Uses CKD/NotCKD labels.</a:t>
            </a:r>
            <a:endParaRPr lang="en-US" sz="1200" dirty="0">
              <a:latin typeface="Ubuntu" panose="020B050403060203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089904" y="1691640"/>
            <a:ext cx="2697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89904" y="1691640"/>
            <a:ext cx="2697480" cy="548640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25" name="Text 23"/>
          <p:cNvSpPr/>
          <p:nvPr/>
        </p:nvSpPr>
        <p:spPr>
          <a:xfrm>
            <a:off x="6089904" y="16916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RF Importance</a:t>
            </a:r>
            <a:endParaRPr lang="en-US" sz="2200" dirty="0">
              <a:latin typeface="Ubuntu" panose="020B050403060203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181344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D7D31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Random Forest Feature Selection</a:t>
            </a:r>
            <a:endParaRPr lang="en-US" sz="1100" dirty="0">
              <a:latin typeface="Ubuntu" panose="020B050403060203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547104" y="2743200"/>
            <a:ext cx="1783080" cy="320040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28" name="Text 26"/>
          <p:cNvSpPr/>
          <p:nvPr/>
        </p:nvSpPr>
        <p:spPr>
          <a:xfrm>
            <a:off x="6547104" y="274320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100" dirty="0">
              <a:latin typeface="Ubuntu" panose="020B050403060203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181344" y="31546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97D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24 → Top 10 features</a:t>
            </a:r>
            <a:endParaRPr lang="en-US" sz="1200" dirty="0">
              <a:latin typeface="Ubuntu" panose="020B050403060203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181344" y="361188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04040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Ranks by Gini impurity.</a:t>
            </a:r>
            <a:endParaRPr lang="en-US" sz="1200" dirty="0">
              <a:latin typeface="Ubuntu" panose="020B0504030602030204" pitchFamily="34" charset="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404040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sc, pcv, hemo = top 3.</a:t>
            </a:r>
            <a:endParaRPr lang="en-US" sz="1200" dirty="0">
              <a:latin typeface="Ubuntu" panose="020B050403060203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06  |  Data Splitting</a:t>
            </a:r>
            <a:endParaRPr lang="en-US" sz="2400" dirty="0">
              <a:latin typeface="Ubuntu" panose="020B050403060203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97D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Technique 1 : Train / Validation / Test Split (500 patients)</a:t>
            </a:r>
            <a:endParaRPr lang="en-US" sz="1500" dirty="0">
              <a:latin typeface="Ubuntu" panose="020B050403060203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8595360" cy="5029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3258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Full Dataset: 500 patients (100%)</a:t>
            </a:r>
            <a:endParaRPr lang="en-US" sz="1300" dirty="0">
              <a:latin typeface="Ubuntu" panose="020B050403060203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74320" y="1965960"/>
            <a:ext cx="5157216" cy="45720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965960"/>
            <a:ext cx="5157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Train + Val: 400 (80%)</a:t>
            </a:r>
            <a:endParaRPr lang="en-US" sz="1200" dirty="0">
              <a:latin typeface="Ubuntu" panose="020B050403060203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522976" y="1965960"/>
            <a:ext cx="3346704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5522976" y="1965960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Test: 100 (20%)</a:t>
            </a:r>
            <a:endParaRPr lang="en-US" sz="1200" dirty="0">
              <a:latin typeface="Ubuntu" panose="020B050403060203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2578608"/>
            <a:ext cx="3867912" cy="457200"/>
          </a:xfrm>
          <a:prstGeom prst="rect">
            <a:avLst/>
          </a:prstGeom>
          <a:solidFill>
            <a:srgbClr val="375623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578608"/>
            <a:ext cx="3867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Train: 300 (60%)</a:t>
            </a:r>
            <a:endParaRPr lang="en-US" sz="1200" dirty="0">
              <a:latin typeface="Ubuntu" panose="020B050403060203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233672" y="2578608"/>
            <a:ext cx="1289304" cy="457200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14" name="Text 12"/>
          <p:cNvSpPr/>
          <p:nvPr/>
        </p:nvSpPr>
        <p:spPr>
          <a:xfrm>
            <a:off x="4233672" y="2578608"/>
            <a:ext cx="128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Val: 100</a:t>
            </a:r>
            <a:endParaRPr lang="en-US" sz="1100" dirty="0">
              <a:latin typeface="Ubuntu" panose="020B0504030602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74320" y="320040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497D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Technique 2 : Fold Stratified Cross Validation</a:t>
            </a:r>
            <a:endParaRPr lang="en-US" sz="1500" dirty="0">
              <a:latin typeface="Ubuntu" panose="020B050403060203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4320" y="3611880"/>
            <a:ext cx="1682496" cy="173736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" y="3611880"/>
            <a:ext cx="2377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04040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900" dirty="0">
              <a:latin typeface="Ubuntu" panose="020B050403060203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993392" y="3611880"/>
            <a:ext cx="1682496" cy="173736"/>
          </a:xfrm>
          <a:prstGeom prst="rect">
            <a:avLst/>
          </a:prstGeom>
          <a:solidFill>
            <a:srgbClr val="4472C4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712464" y="3611880"/>
            <a:ext cx="1682496" cy="173736"/>
          </a:xfrm>
          <a:prstGeom prst="rect">
            <a:avLst/>
          </a:prstGeom>
          <a:solidFill>
            <a:srgbClr val="4472C4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431536" y="3611880"/>
            <a:ext cx="1682496" cy="173736"/>
          </a:xfrm>
          <a:prstGeom prst="rect">
            <a:avLst/>
          </a:prstGeom>
          <a:solidFill>
            <a:srgbClr val="4472C4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150608" y="3611880"/>
            <a:ext cx="1682496" cy="173736"/>
          </a:xfrm>
          <a:prstGeom prst="rect">
            <a:avLst/>
          </a:prstGeom>
          <a:solidFill>
            <a:srgbClr val="4472C4">
              <a:alpha val="6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3813048"/>
            <a:ext cx="1682496" cy="173736"/>
          </a:xfrm>
          <a:prstGeom prst="rect">
            <a:avLst/>
          </a:prstGeom>
          <a:solidFill>
            <a:srgbClr val="0D6E8A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8288" y="3813048"/>
            <a:ext cx="2377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04040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F2</a:t>
            </a:r>
            <a:endParaRPr lang="en-US" sz="900" dirty="0">
              <a:latin typeface="Ubuntu" panose="020B050403060203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993392" y="3813048"/>
            <a:ext cx="1682496" cy="173736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3712464" y="3813048"/>
            <a:ext cx="1682496" cy="173736"/>
          </a:xfrm>
          <a:prstGeom prst="rect">
            <a:avLst/>
          </a:prstGeom>
          <a:solidFill>
            <a:srgbClr val="0D6E8A">
              <a:alpha val="6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431536" y="3813048"/>
            <a:ext cx="1682496" cy="173736"/>
          </a:xfrm>
          <a:prstGeom prst="rect">
            <a:avLst/>
          </a:prstGeom>
          <a:solidFill>
            <a:srgbClr val="0D6E8A">
              <a:alpha val="6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150608" y="3813048"/>
            <a:ext cx="1682496" cy="173736"/>
          </a:xfrm>
          <a:prstGeom prst="rect">
            <a:avLst/>
          </a:prstGeom>
          <a:solidFill>
            <a:srgbClr val="0D6E8A">
              <a:alpha val="6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74320" y="4014216"/>
            <a:ext cx="1682496" cy="173736"/>
          </a:xfrm>
          <a:prstGeom prst="rect">
            <a:avLst/>
          </a:prstGeom>
          <a:solidFill>
            <a:srgbClr val="375623">
              <a:alpha val="6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8288" y="4014216"/>
            <a:ext cx="2377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04040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900" dirty="0">
              <a:latin typeface="Ubuntu" panose="020B050403060203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993392" y="4014216"/>
            <a:ext cx="1682496" cy="173736"/>
          </a:xfrm>
          <a:prstGeom prst="rect">
            <a:avLst/>
          </a:prstGeom>
          <a:solidFill>
            <a:srgbClr val="375623">
              <a:alpha val="6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712464" y="4014216"/>
            <a:ext cx="1682496" cy="173736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2" name="Shape 30"/>
          <p:cNvSpPr/>
          <p:nvPr/>
        </p:nvSpPr>
        <p:spPr>
          <a:xfrm>
            <a:off x="5431536" y="4014216"/>
            <a:ext cx="1682496" cy="173736"/>
          </a:xfrm>
          <a:prstGeom prst="rect">
            <a:avLst/>
          </a:prstGeom>
          <a:solidFill>
            <a:srgbClr val="375623">
              <a:alpha val="6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150608" y="4014216"/>
            <a:ext cx="1682496" cy="173736"/>
          </a:xfrm>
          <a:prstGeom prst="rect">
            <a:avLst/>
          </a:prstGeom>
          <a:solidFill>
            <a:srgbClr val="375623">
              <a:alpha val="6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74320" y="4215384"/>
            <a:ext cx="1682496" cy="173736"/>
          </a:xfrm>
          <a:prstGeom prst="rect">
            <a:avLst/>
          </a:prstGeom>
          <a:solidFill>
            <a:srgbClr val="ED7D31">
              <a:alpha val="6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8288" y="4215384"/>
            <a:ext cx="2377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04040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F4</a:t>
            </a:r>
            <a:endParaRPr lang="en-US" sz="900" dirty="0">
              <a:latin typeface="Ubuntu" panose="020B050403060203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1993392" y="4215384"/>
            <a:ext cx="1682496" cy="173736"/>
          </a:xfrm>
          <a:prstGeom prst="rect">
            <a:avLst/>
          </a:prstGeom>
          <a:solidFill>
            <a:srgbClr val="ED7D31">
              <a:alpha val="6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712464" y="4215384"/>
            <a:ext cx="1682496" cy="173736"/>
          </a:xfrm>
          <a:prstGeom prst="rect">
            <a:avLst/>
          </a:prstGeom>
          <a:solidFill>
            <a:srgbClr val="ED7D31">
              <a:alpha val="6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431536" y="4215384"/>
            <a:ext cx="1682496" cy="173736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7150608" y="4215384"/>
            <a:ext cx="1682496" cy="173736"/>
          </a:xfrm>
          <a:prstGeom prst="rect">
            <a:avLst/>
          </a:prstGeom>
          <a:solidFill>
            <a:srgbClr val="ED7D31">
              <a:alpha val="6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274320" y="4416552"/>
            <a:ext cx="1682496" cy="173736"/>
          </a:xfrm>
          <a:prstGeom prst="rect">
            <a:avLst/>
          </a:prstGeom>
          <a:solidFill>
            <a:srgbClr val="1F497D">
              <a:alpha val="6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8288" y="4416552"/>
            <a:ext cx="2377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04040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F5</a:t>
            </a:r>
            <a:endParaRPr lang="en-US" sz="900" dirty="0">
              <a:latin typeface="Ubuntu" panose="020B050403060203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1993392" y="4416552"/>
            <a:ext cx="1682496" cy="173736"/>
          </a:xfrm>
          <a:prstGeom prst="rect">
            <a:avLst/>
          </a:prstGeom>
          <a:solidFill>
            <a:srgbClr val="1F497D">
              <a:alpha val="6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712464" y="4416552"/>
            <a:ext cx="1682496" cy="173736"/>
          </a:xfrm>
          <a:prstGeom prst="rect">
            <a:avLst/>
          </a:prstGeom>
          <a:solidFill>
            <a:srgbClr val="1F497D">
              <a:alpha val="6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431536" y="4416552"/>
            <a:ext cx="1682496" cy="173736"/>
          </a:xfrm>
          <a:prstGeom prst="rect">
            <a:avLst/>
          </a:prstGeom>
          <a:solidFill>
            <a:srgbClr val="1F497D">
              <a:alpha val="6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150608" y="4416552"/>
            <a:ext cx="1682496" cy="173736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8" name="Shape 46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BDD7EE"/>
          </a:solidFill>
          <a:ln/>
        </p:spPr>
      </p:sp>
      <p:sp>
        <p:nvSpPr>
          <p:cNvPr id="49" name="Text 47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497D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stratify=y ensures CKD/NotCKD ratio is preserved equally in all splits and folds</a:t>
            </a:r>
            <a:endParaRPr lang="en-US" sz="1200" dirty="0">
              <a:latin typeface="Ubuntu" panose="020B0504030602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07  |  Algorithm Selection &amp; Training</a:t>
            </a:r>
            <a:endParaRPr lang="en-US" sz="2400" dirty="0">
              <a:latin typeface="Ubuntu" panose="020B0504030602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316736" cy="1463040"/>
          </a:xfrm>
          <a:prstGeom prst="rect">
            <a:avLst/>
          </a:prstGeom>
          <a:solidFill>
            <a:srgbClr val="4472C4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1316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Logistic</a:t>
            </a:r>
            <a:endParaRPr lang="en-US" sz="1200" dirty="0">
              <a:latin typeface="Ubuntu" panose="020B0504030602030204" pitchFamily="34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200" dirty="0">
              <a:latin typeface="Ubuntu" panose="020B050403060203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783080"/>
            <a:ext cx="1316736" cy="411480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801368"/>
            <a:ext cx="131673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DD7EE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100" dirty="0">
              <a:latin typeface="Ubuntu" panose="020B050403060203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719072" y="914400"/>
            <a:ext cx="1316736" cy="1463040"/>
          </a:xfrm>
          <a:prstGeom prst="rect">
            <a:avLst/>
          </a:prstGeom>
          <a:solidFill>
            <a:srgbClr val="0D6E8A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19072" y="960120"/>
            <a:ext cx="1316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>
              <a:latin typeface="Ubuntu" panose="020B0504030602030204" pitchFamily="34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1200" dirty="0">
              <a:latin typeface="Ubuntu" panose="020B050403060203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719072" y="1783080"/>
            <a:ext cx="1316736" cy="411480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11" name="Text 9"/>
          <p:cNvSpPr/>
          <p:nvPr/>
        </p:nvSpPr>
        <p:spPr>
          <a:xfrm>
            <a:off x="1719072" y="1801368"/>
            <a:ext cx="131673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DD7EE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100" dirty="0">
              <a:latin typeface="Ubuntu" panose="020B0504030602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163824" y="914400"/>
            <a:ext cx="1316736" cy="1463040"/>
          </a:xfrm>
          <a:prstGeom prst="rect">
            <a:avLst/>
          </a:prstGeom>
          <a:solidFill>
            <a:srgbClr val="1F497D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63824" y="960120"/>
            <a:ext cx="1316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K-Nearest</a:t>
            </a:r>
            <a:endParaRPr lang="en-US" sz="1200" dirty="0">
              <a:latin typeface="Ubuntu" panose="020B0504030602030204" pitchFamily="34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Neighbors</a:t>
            </a:r>
            <a:endParaRPr lang="en-US" sz="1200" dirty="0">
              <a:latin typeface="Ubuntu" panose="020B050403060203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163824" y="1783080"/>
            <a:ext cx="1316736" cy="411480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15" name="Text 13"/>
          <p:cNvSpPr/>
          <p:nvPr/>
        </p:nvSpPr>
        <p:spPr>
          <a:xfrm>
            <a:off x="3163824" y="1801368"/>
            <a:ext cx="131673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DD7EE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100" dirty="0">
              <a:latin typeface="Ubuntu" panose="020B050403060203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608576" y="914400"/>
            <a:ext cx="1316736" cy="1463040"/>
          </a:xfrm>
          <a:prstGeom prst="rect">
            <a:avLst/>
          </a:prstGeom>
          <a:solidFill>
            <a:srgbClr val="ED7D31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08576" y="960120"/>
            <a:ext cx="1316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200" dirty="0">
              <a:latin typeface="Ubuntu" panose="020B0504030602030204" pitchFamily="34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Vector M.</a:t>
            </a:r>
            <a:endParaRPr lang="en-US" sz="1200" dirty="0">
              <a:latin typeface="Ubuntu" panose="020B050403060203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08576" y="1783080"/>
            <a:ext cx="1316736" cy="411480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19" name="Text 17"/>
          <p:cNvSpPr/>
          <p:nvPr/>
        </p:nvSpPr>
        <p:spPr>
          <a:xfrm>
            <a:off x="4608576" y="1801368"/>
            <a:ext cx="131673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DD7EE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100" dirty="0">
              <a:latin typeface="Ubuntu" panose="020B0504030602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053328" y="914400"/>
            <a:ext cx="1316736" cy="1463040"/>
          </a:xfrm>
          <a:prstGeom prst="rect">
            <a:avLst/>
          </a:prstGeom>
          <a:solidFill>
            <a:srgbClr val="37562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53328" y="960120"/>
            <a:ext cx="1316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200" dirty="0">
              <a:latin typeface="Ubuntu" panose="020B0504030602030204" pitchFamily="34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200" dirty="0">
              <a:latin typeface="Ubuntu" panose="020B050403060203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053328" y="1783080"/>
            <a:ext cx="1316736" cy="411480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23" name="Text 21"/>
          <p:cNvSpPr/>
          <p:nvPr/>
        </p:nvSpPr>
        <p:spPr>
          <a:xfrm>
            <a:off x="6053328" y="1801368"/>
            <a:ext cx="131673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DD7EE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100" dirty="0">
              <a:latin typeface="Ubuntu" panose="020B050403060203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498080" y="914400"/>
            <a:ext cx="1316736" cy="1463040"/>
          </a:xfrm>
          <a:prstGeom prst="rect">
            <a:avLst/>
          </a:prstGeom>
          <a:solidFill>
            <a:srgbClr val="C0000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98080" y="960120"/>
            <a:ext cx="1316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Gradient</a:t>
            </a:r>
            <a:endParaRPr lang="en-US" sz="1200" dirty="0">
              <a:latin typeface="Ubuntu" panose="020B0504030602030204" pitchFamily="34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1200" dirty="0">
              <a:latin typeface="Ubuntu" panose="020B050403060203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498080" y="1783080"/>
            <a:ext cx="1316736" cy="411480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0" y="1801368"/>
            <a:ext cx="131673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DD7EE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100" dirty="0">
              <a:latin typeface="Ubuntu" panose="020B050403060203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74320" y="25146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97D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Cross-Validation Accuracy per Model (%)</a:t>
            </a:r>
            <a:endParaRPr lang="en-US" sz="1400" dirty="0">
              <a:latin typeface="Ubuntu" panose="020B0504030602030204" pitchFamily="34" charset="0"/>
            </a:endParaRPr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1FFE8137-A5A8-316D-75E7-C4F4F0ED8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19" y="2834640"/>
            <a:ext cx="8736037" cy="21480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08  |  Evaluation &amp; Results</a:t>
            </a:r>
            <a:endParaRPr lang="en-US" sz="2400" dirty="0">
              <a:latin typeface="Ubuntu" panose="020B0504030602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502920"/>
          </a:xfrm>
          <a:prstGeom prst="rect">
            <a:avLst/>
          </a:prstGeom>
          <a:solidFill>
            <a:srgbClr val="37562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Best Model: Random Forest  |  CV Mean = 99%  |  Test Accuracy = 100%</a:t>
            </a:r>
            <a:endParaRPr lang="en-US" sz="1400" dirty="0">
              <a:latin typeface="Ubuntu" panose="020B050403060203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1965960" cy="1188720"/>
          </a:xfrm>
          <a:prstGeom prst="rect">
            <a:avLst/>
          </a:prstGeom>
          <a:solidFill>
            <a:srgbClr val="375623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6002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3600" dirty="0">
              <a:latin typeface="Ubuntu" panose="020B0504030602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74320" y="22860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>
              <a:latin typeface="Ubuntu" panose="020B050403060203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450592" y="1554480"/>
            <a:ext cx="1965960" cy="1188720"/>
          </a:xfrm>
          <a:prstGeom prst="rect">
            <a:avLst/>
          </a:prstGeom>
          <a:solidFill>
            <a:srgbClr val="4472C4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50592" y="16002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0,9949</a:t>
            </a:r>
            <a:endParaRPr lang="en-US" sz="3600" dirty="0">
              <a:latin typeface="Ubuntu" panose="020B0504030602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450592" y="22860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300" dirty="0">
              <a:latin typeface="Ubuntu" panose="020B0504030602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626864" y="1554480"/>
            <a:ext cx="1965960" cy="1188720"/>
          </a:xfrm>
          <a:prstGeom prst="rect">
            <a:avLst/>
          </a:prstGeom>
          <a:solidFill>
            <a:srgbClr val="0D6E8A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16002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0,9853</a:t>
            </a:r>
            <a:endParaRPr lang="en-US" sz="3600" dirty="0">
              <a:latin typeface="Ubuntu" panose="020B050403060203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626864" y="22860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300" dirty="0">
              <a:latin typeface="Ubuntu" panose="020B050403060203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803136" y="1554480"/>
            <a:ext cx="1965960" cy="1188720"/>
          </a:xfrm>
          <a:prstGeom prst="rect">
            <a:avLst/>
          </a:prstGeom>
          <a:solidFill>
            <a:srgbClr val="C0000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03136" y="16002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>
              <a:latin typeface="Ubuntu" panose="020B0504030602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803136" y="22860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300" dirty="0">
              <a:latin typeface="Ubuntu" panose="020B0504030602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74320" y="2880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97D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400" dirty="0">
              <a:latin typeface="Ubuntu" panose="020B050403060203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74320" y="3246120"/>
            <a:ext cx="1691640" cy="731520"/>
          </a:xfrm>
          <a:prstGeom prst="rect">
            <a:avLst/>
          </a:prstGeom>
          <a:solidFill>
            <a:srgbClr val="375623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3273552"/>
            <a:ext cx="1691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TN = 31 ✓</a:t>
            </a:r>
            <a:endParaRPr lang="en-US" sz="1400" dirty="0">
              <a:latin typeface="Ubuntu" panose="020B050403060203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011680" y="3246120"/>
            <a:ext cx="1691640" cy="73152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2011680" y="3273552"/>
            <a:ext cx="1691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FP = 1 ✓</a:t>
            </a:r>
            <a:endParaRPr lang="en-US" sz="1400" dirty="0">
              <a:latin typeface="Ubuntu" panose="020B050403060203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74320" y="4023360"/>
            <a:ext cx="1691640" cy="73152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4050792"/>
            <a:ext cx="1691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FN = 1 ✓</a:t>
            </a:r>
            <a:endParaRPr lang="en-US" sz="1400" dirty="0">
              <a:latin typeface="Ubuntu" panose="020B050403060203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011680" y="4023360"/>
            <a:ext cx="1691640" cy="731520"/>
          </a:xfrm>
          <a:prstGeom prst="rect">
            <a:avLst/>
          </a:prstGeom>
          <a:solidFill>
            <a:srgbClr val="375623"/>
          </a:solidFill>
          <a:ln/>
        </p:spPr>
      </p:sp>
      <p:sp>
        <p:nvSpPr>
          <p:cNvPr id="26" name="Text 24"/>
          <p:cNvSpPr/>
          <p:nvPr/>
        </p:nvSpPr>
        <p:spPr>
          <a:xfrm>
            <a:off x="2011680" y="4050792"/>
            <a:ext cx="1691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TP = 67 ✓</a:t>
            </a:r>
            <a:endParaRPr lang="en-US" sz="1400" dirty="0">
              <a:latin typeface="Ubuntu" panose="020B050403060203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74320" y="306324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04040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Pred: NotCKD</a:t>
            </a:r>
            <a:endParaRPr lang="en-US" sz="1000" dirty="0">
              <a:latin typeface="Ubuntu" panose="020B050403060203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2011680" y="306324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04040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Pred: CKD</a:t>
            </a:r>
            <a:endParaRPr lang="en-US" sz="1000" dirty="0">
              <a:latin typeface="Ubuntu" panose="020B0504030602030204" pitchFamily="34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FN = 0  →  No sick patient was missed — most critical metric in medical diagnosis!</a:t>
            </a:r>
            <a:endParaRPr lang="en-US" sz="1000" dirty="0">
              <a:latin typeface="Ubuntu" panose="020B0504030602030204" pitchFamily="34" charset="0"/>
            </a:endParaRPr>
          </a:p>
        </p:txBody>
      </p:sp>
      <p:pic>
        <p:nvPicPr>
          <p:cNvPr id="35" name="Image 34">
            <a:extLst>
              <a:ext uri="{FF2B5EF4-FFF2-40B4-BE49-F238E27FC236}">
                <a16:creationId xmlns:a16="http://schemas.microsoft.com/office/drawing/2014/main" id="{6E985948-FE22-1BB7-D604-72E61F739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006" y="2799170"/>
            <a:ext cx="3309996" cy="21843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3" name="Text 1"/>
          <p:cNvSpPr/>
          <p:nvPr/>
        </p:nvSpPr>
        <p:spPr>
          <a:xfrm>
            <a:off x="175846" y="36576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>
              <a:latin typeface="Ubuntu" panose="020B050403060203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19" name="Text 16"/>
          <p:cNvSpPr/>
          <p:nvPr/>
        </p:nvSpPr>
        <p:spPr>
          <a:xfrm>
            <a:off x="0" y="4782312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>
              <a:latin typeface="Ubuntu" panose="020B0504030602030204" pitchFamily="34" charset="0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7DAF8E19-C0CA-3273-E431-739793267CE0}"/>
              </a:ext>
            </a:extLst>
          </p:cNvPr>
          <p:cNvSpPr txBox="1"/>
          <p:nvPr/>
        </p:nvSpPr>
        <p:spPr>
          <a:xfrm>
            <a:off x="175846" y="745588"/>
            <a:ext cx="8180363" cy="4104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Ubuntu" panose="020B0504030602030204" pitchFamily="34" charset="0"/>
              </a:rPr>
              <a:t>Achieved High Accuracy: </a:t>
            </a:r>
            <a:r>
              <a:rPr lang="en-US" sz="1600" dirty="0">
                <a:solidFill>
                  <a:schemeClr val="bg1"/>
                </a:solidFill>
                <a:latin typeface="Ubuntu" panose="020B0504030602030204" pitchFamily="34" charset="0"/>
              </a:rPr>
              <a:t>The final tuned model achieved an accuracy of approximately 99.75%, demonstrating extreme reliability in distinguishing between healthy patients and those with CKD. </a:t>
            </a:r>
          </a:p>
          <a:p>
            <a:pPr algn="just">
              <a:lnSpc>
                <a:spcPct val="150000"/>
              </a:lnSpc>
            </a:pPr>
            <a:endParaRPr lang="en-US" sz="1600" dirty="0">
              <a:solidFill>
                <a:schemeClr val="bg1"/>
              </a:solidFill>
              <a:latin typeface="Ubuntu" panose="020B050403060203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Ubuntu" panose="020B0504030602030204" pitchFamily="34" charset="0"/>
              </a:rPr>
              <a:t>Recall: </a:t>
            </a:r>
            <a:r>
              <a:rPr lang="en-US" sz="1600" dirty="0">
                <a:solidFill>
                  <a:schemeClr val="bg1"/>
                </a:solidFill>
                <a:latin typeface="Ubuntu" panose="020B0504030602030204" pitchFamily="34" charset="0"/>
              </a:rPr>
              <a:t>The model reached a 99% recall rate, which is critical for medical screening to ensure that almost all sick patients are correctly identified and no cases are missed.</a:t>
            </a:r>
          </a:p>
          <a:p>
            <a:pPr algn="just">
              <a:lnSpc>
                <a:spcPct val="150000"/>
              </a:lnSpc>
            </a:pPr>
            <a:endParaRPr lang="en-US" sz="1600" dirty="0">
              <a:solidFill>
                <a:schemeClr val="bg1"/>
              </a:solidFill>
              <a:latin typeface="Ubuntu" panose="020B050403060203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Ubuntu" panose="020B0504030602030204" pitchFamily="34" charset="0"/>
              </a:rPr>
              <a:t>Synthesized Data Utility: </a:t>
            </a:r>
            <a:r>
              <a:rPr lang="en-US" sz="1600" dirty="0">
                <a:solidFill>
                  <a:schemeClr val="bg1"/>
                </a:solidFill>
                <a:latin typeface="Ubuntu" panose="020B0504030602030204" pitchFamily="34" charset="0"/>
              </a:rPr>
              <a:t>The integration of synthetic data (Generative AI) helped balance the dataset, allowing the model to better generalize across different patient profiles and medical scenarios.</a:t>
            </a:r>
          </a:p>
          <a:p>
            <a:pPr algn="just">
              <a:lnSpc>
                <a:spcPct val="150000"/>
              </a:lnSpc>
            </a:pPr>
            <a:endParaRPr lang="en-US" sz="1600" dirty="0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D75EB-2698-AA83-DAD5-91F5DD058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C67A733-D14A-18BB-12C7-9207B3C3B086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D7D31"/>
          </a:solidFill>
          <a:ln/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D7F71B1-A8F5-EE0F-7BA0-85F485BD9737}"/>
              </a:ext>
            </a:extLst>
          </p:cNvPr>
          <p:cNvSpPr/>
          <p:nvPr/>
        </p:nvSpPr>
        <p:spPr>
          <a:xfrm>
            <a:off x="6629400" y="1417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Accuracy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1.00</a:t>
            </a:r>
            <a:endParaRPr lang="en-US" sz="12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48908E25-B39A-9ECF-234B-0D471AE0FE20}"/>
              </a:ext>
            </a:extLst>
          </p:cNvPr>
          <p:cNvSpPr/>
          <p:nvPr/>
        </p:nvSpPr>
        <p:spPr>
          <a:xfrm>
            <a:off x="6629400" y="22860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= 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patient missed</a:t>
            </a:r>
            <a:endParaRPr lang="en-US" sz="12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46D06630-FCC3-6256-D4BE-3524FAA513DA}"/>
              </a:ext>
            </a:extLst>
          </p:cNvPr>
          <p:cNvSpPr/>
          <p:nvPr/>
        </p:nvSpPr>
        <p:spPr>
          <a:xfrm>
            <a:off x="6629400" y="3154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sc, pcv, hemo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features</a:t>
            </a:r>
            <a:endParaRPr lang="en-US" sz="12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D1A24E9E-DEE9-281E-0935-2F7ABA8E472C}"/>
              </a:ext>
            </a:extLst>
          </p:cNvPr>
          <p:cNvSpPr/>
          <p:nvPr/>
        </p:nvSpPr>
        <p:spPr>
          <a:xfrm>
            <a:off x="6629400" y="40233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+25% more data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Augmentation</a:t>
            </a:r>
            <a:endParaRPr lang="en-US" sz="120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142C6B21-E38B-EE6E-B7D2-3C99E520D7FC}"/>
              </a:ext>
            </a:extLst>
          </p:cNvPr>
          <p:cNvSpPr/>
          <p:nvPr/>
        </p:nvSpPr>
        <p:spPr>
          <a:xfrm>
            <a:off x="0" y="73152"/>
            <a:ext cx="9144000" cy="5065776"/>
          </a:xfrm>
          <a:prstGeom prst="rect">
            <a:avLst/>
          </a:prstGeom>
          <a:solidFill>
            <a:srgbClr val="17375E"/>
          </a:solidFill>
          <a:ln/>
        </p:spPr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FF6E3BC6-7CAE-2BD4-94CA-AF3F519A913D}"/>
              </a:ext>
            </a:extLst>
          </p:cNvPr>
          <p:cNvSpPr/>
          <p:nvPr/>
        </p:nvSpPr>
        <p:spPr>
          <a:xfrm>
            <a:off x="0" y="146304"/>
            <a:ext cx="9144000" cy="4983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D7D31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Thank you for your attention  |  Questions?</a:t>
            </a:r>
            <a:endParaRPr lang="en-US" sz="2800" dirty="0">
              <a:latin typeface="Ubuntu" panose="020B05040306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2706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800</Words>
  <Application>Microsoft Office PowerPoint</Application>
  <PresentationFormat>Affichage à l'écran (16:9)</PresentationFormat>
  <Paragraphs>204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Calibri</vt:lpstr>
      <vt:lpstr>Ubuntu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Chronic Kidney Disease Prevention</dc:title>
  <dc:subject>PptxGenJS Presentation</dc:subject>
  <dc:creator>PptxGenJS</dc:creator>
  <cp:lastModifiedBy>hp</cp:lastModifiedBy>
  <cp:revision>13</cp:revision>
  <dcterms:created xsi:type="dcterms:W3CDTF">2026-03-30T21:26:43Z</dcterms:created>
  <dcterms:modified xsi:type="dcterms:W3CDTF">2026-03-31T13:49:26Z</dcterms:modified>
</cp:coreProperties>
</file>